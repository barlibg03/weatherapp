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69AAE7-0A37-A5CB-0CDB-4A32ED42C97D}" v="36" dt="2026-05-02T16:57:49.0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an Ushagelov" userId="S::yushagelov@tu-sofia.bg::32df8285-03e5-4dce-9ba2-7dadb0e043b2" providerId="AD" clId="Web-{0B69AAE7-0A37-A5CB-0CDB-4A32ED42C97D}"/>
    <pc:docChg chg="modSld">
      <pc:chgData name="Yoan Ushagelov" userId="S::yushagelov@tu-sofia.bg::32df8285-03e5-4dce-9ba2-7dadb0e043b2" providerId="AD" clId="Web-{0B69AAE7-0A37-A5CB-0CDB-4A32ED42C97D}" dt="2026-05-02T16:57:48.464" v="34" actId="20577"/>
      <pc:docMkLst>
        <pc:docMk/>
      </pc:docMkLst>
      <pc:sldChg chg="modSp">
        <pc:chgData name="Yoan Ushagelov" userId="S::yushagelov@tu-sofia.bg::32df8285-03e5-4dce-9ba2-7dadb0e043b2" providerId="AD" clId="Web-{0B69AAE7-0A37-A5CB-0CDB-4A32ED42C97D}" dt="2026-05-02T16:57:48.464" v="34" actId="20577"/>
        <pc:sldMkLst>
          <pc:docMk/>
          <pc:sldMk cId="0" sldId="256"/>
        </pc:sldMkLst>
        <pc:spChg chg="mod">
          <ac:chgData name="Yoan Ushagelov" userId="S::yushagelov@tu-sofia.bg::32df8285-03e5-4dce-9ba2-7dadb0e043b2" providerId="AD" clId="Web-{0B69AAE7-0A37-A5CB-0CDB-4A32ED42C97D}" dt="2026-05-02T16:57:48.464" v="34" actId="20577"/>
          <ac:spMkLst>
            <pc:docMk/>
            <pc:sldMk cId="0" sldId="256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E6C354-F775-433A-AB40-B93D2A39661D}" type="datetimeFigureOut">
              <a:t>5/2/2026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4C5E2A-1D96-4309-9157-08B424CF9E2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025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1565C0">
              <a:alpha val="40000"/>
            </a:srgbClr>
          </a:solidFill>
          <a:ln w="12700">
            <a:solidFill>
              <a:srgbClr val="1565C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286000"/>
            <a:ext cx="2286000" cy="2286000"/>
          </a:xfrm>
          <a:prstGeom prst="ellipse">
            <a:avLst/>
          </a:prstGeom>
          <a:solidFill>
            <a:srgbClr val="42A5F5">
              <a:alpha val="30000"/>
            </a:srgbClr>
          </a:solidFill>
          <a:ln w="12700">
            <a:solidFill>
              <a:srgbClr val="42A5F5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200400"/>
            <a:ext cx="1828800" cy="1828800"/>
          </a:xfrm>
          <a:prstGeom prst="ellipse">
            <a:avLst/>
          </a:prstGeom>
          <a:solidFill>
            <a:srgbClr val="1E88E5">
              <a:alpha val="25000"/>
            </a:srgbClr>
          </a:solidFill>
          <a:ln w="12700">
            <a:solidFill>
              <a:srgbClr val="1E88E5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🌤️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BDEF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Мобилно приложение за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Прогноза за Времето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365760" y="2743200"/>
            <a:ext cx="3200400" cy="36576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/ Kotlin  </a:t>
            </a:r>
            <a:r>
              <a:rPr lang="en-US" sz="13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MVVM Архитектура  </a:t>
            </a:r>
            <a:r>
              <a:rPr lang="en-US" sz="13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OpenWeatherMap API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dirty="0" err="1">
                <a:solidFill>
                  <a:schemeClr val="bg1"/>
                </a:solidFill>
                <a:ea typeface="Calibri"/>
                <a:cs typeface="Calibri"/>
              </a:rPr>
              <a:t>Изготвил</a:t>
            </a:r>
            <a:r>
              <a:rPr lang="en-US" sz="1200" dirty="0">
                <a:solidFill>
                  <a:schemeClr val="bg1"/>
                </a:solidFill>
                <a:ea typeface="Calibri"/>
                <a:cs typeface="Calibri"/>
              </a:rPr>
              <a:t>:</a:t>
            </a:r>
          </a:p>
          <a:p>
            <a:r>
              <a:rPr lang="en-US" sz="1200" dirty="0" err="1">
                <a:solidFill>
                  <a:schemeClr val="bg1"/>
                </a:solidFill>
                <a:ea typeface="Calibri"/>
                <a:cs typeface="Calibri"/>
              </a:rPr>
              <a:t>Йоан</a:t>
            </a:r>
            <a:r>
              <a:rPr lang="en-US" sz="1200" dirty="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chemeClr val="bg1"/>
                </a:solidFill>
                <a:ea typeface="Calibri"/>
                <a:cs typeface="Calibri"/>
              </a:rPr>
              <a:t>Димитров</a:t>
            </a:r>
            <a:r>
              <a:rPr lang="en-US" sz="1200" dirty="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chemeClr val="bg1"/>
                </a:solidFill>
                <a:ea typeface="Calibri"/>
                <a:cs typeface="Calibri"/>
              </a:rPr>
              <a:t>Ушагелов</a:t>
            </a:r>
            <a:endParaRPr lang="en-US" sz="1200" dirty="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1200" dirty="0" err="1">
                <a:solidFill>
                  <a:schemeClr val="bg1"/>
                </a:solidFill>
                <a:ea typeface="+mn-lt"/>
                <a:cs typeface="+mn-lt"/>
              </a:rPr>
              <a:t>Фак</a:t>
            </a:r>
            <a:r>
              <a:rPr lang="en-US" sz="1200" dirty="0">
                <a:solidFill>
                  <a:schemeClr val="bg1"/>
                </a:solidFill>
                <a:ea typeface="+mn-lt"/>
                <a:cs typeface="+mn-lt"/>
              </a:rPr>
              <a:t>. №: 121223163 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200" dirty="0" err="1">
                <a:solidFill>
                  <a:schemeClr val="bg1"/>
                </a:solidFill>
                <a:ea typeface="+mn-lt"/>
                <a:cs typeface="+mn-lt"/>
              </a:rPr>
              <a:t>Група</a:t>
            </a:r>
            <a:r>
              <a:rPr lang="en-US" sz="1200" dirty="0">
                <a:solidFill>
                  <a:schemeClr val="bg1"/>
                </a:solidFill>
                <a:ea typeface="+mn-lt"/>
                <a:cs typeface="+mn-lt"/>
              </a:rPr>
              <a:t>: 39 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200" dirty="0">
                <a:solidFill>
                  <a:schemeClr val="bg1"/>
                </a:solidFill>
                <a:ea typeface="+mn-lt"/>
                <a:cs typeface="+mn-lt"/>
              </a:rPr>
              <a:t>III </a:t>
            </a:r>
            <a:r>
              <a:rPr lang="en-US" sz="1200" dirty="0" err="1">
                <a:solidFill>
                  <a:schemeClr val="bg1"/>
                </a:solidFill>
                <a:ea typeface="+mn-lt"/>
                <a:cs typeface="+mn-lt"/>
              </a:rPr>
              <a:t>курс</a:t>
            </a:r>
            <a:r>
              <a:rPr lang="en-US" sz="1200" dirty="0">
                <a:solidFill>
                  <a:schemeClr val="bg1"/>
                </a:solidFill>
                <a:ea typeface="+mn-lt"/>
                <a:cs typeface="+mn-lt"/>
              </a:rPr>
              <a:t>, ВСИИ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 sz="1200" dirty="0">
              <a:solidFill>
                <a:srgbClr val="7890CC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Съдържание на презентацията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206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73152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1005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 и проблем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3898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Защо е нужно това приложение?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914400"/>
            <a:ext cx="4206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914400"/>
            <a:ext cx="73152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005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623560" y="1005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на пазара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23560" y="13898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Съществуващи решения и техните слабости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148840"/>
            <a:ext cx="4206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148840"/>
            <a:ext cx="73152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8872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26243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MVVM, Repository Pattern, слоева структура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148840"/>
            <a:ext cx="4206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148840"/>
            <a:ext cx="73152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62356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Функционалности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23560" y="26243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GPS, нотификации, API, търсене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383280"/>
            <a:ext cx="4206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383280"/>
            <a:ext cx="73152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474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18872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 &amp; UI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88720" y="38587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Design, динамични теми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3383280"/>
            <a:ext cx="4206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383280"/>
            <a:ext cx="73152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474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62356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Демонстрация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623560" y="38587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 демо на приложението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Проблем и цел на проекта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474720"/>
          </a:xfrm>
          <a:prstGeom prst="rect">
            <a:avLst/>
          </a:prstGeom>
          <a:solidFill>
            <a:srgbClr val="FFF3E0"/>
          </a:solidFill>
          <a:ln w="635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023360" cy="45720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3268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ПРОБЛЕМ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Бавен достъп до актуална информация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Претрупани интерфейси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персонализация и запазване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ежедневни напомняния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Агресивна реклама в безплатните версии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114800" cy="3474720"/>
          </a:xfrm>
          <a:prstGeom prst="rect">
            <a:avLst/>
          </a:prstGeom>
          <a:solidFill>
            <a:srgbClr val="E8F5E9"/>
          </a:solidFill>
          <a:ln w="635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914400"/>
            <a:ext cx="411480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93268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НАШЕТО РЕШЕНИЕ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46304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Бърз достъп с 1 натискане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Изчистен Material Design интерфейс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Запазване на последния град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Ежедневни нотификации в 08:00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Напълно безплатно, без реклами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Анализ на съществуващи приложения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3566160"/>
          </a:xfrm>
          <a:prstGeom prst="rect">
            <a:avLst/>
          </a:prstGeom>
          <a:solidFill>
            <a:srgbClr val="E3F2FD"/>
          </a:solidFill>
          <a:ln w="635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🌐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Weather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2240280"/>
            <a:ext cx="2468880" cy="3657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331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Изчистен дизайн, бърз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32004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Не е самостоятелно приложение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743200" cy="3566160"/>
          </a:xfrm>
          <a:prstGeom prst="rect">
            <a:avLst/>
          </a:prstGeom>
          <a:solidFill>
            <a:srgbClr val="FFF9C4"/>
          </a:solidFill>
          <a:ln w="635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005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🌩️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91840" y="1691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AccuWeather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37560" y="2240280"/>
            <a:ext cx="2468880" cy="3657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2331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Подробна прогноза, нотификации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32004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Реклами, платен абонамент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914400"/>
            <a:ext cx="2743200" cy="3566160"/>
          </a:xfrm>
          <a:prstGeom prst="rect">
            <a:avLst/>
          </a:prstGeom>
          <a:solidFill>
            <a:srgbClr val="F3E5F5"/>
          </a:solidFill>
          <a:ln w="635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1005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📡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217920" y="1691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&amp; Radar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2240280"/>
            <a:ext cx="2468880" cy="3657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2331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Радарни карти, визуален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32004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Сложен, висока консумация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1565C0"/>
          </a:solidFill>
          <a:ln w="635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Нашето приложение комбинира силните страни и елиминира слабостите на съществуващите решения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Архитектура — MVVM + Repository Pattern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149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VIEW (UI)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31920" y="1014984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MainActivity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Hourly/DailyAdapter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389120" y="17647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</a:rPr>
              <a:t>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29384"/>
            <a:ext cx="8229600" cy="804672"/>
          </a:xfrm>
          <a:prstGeom prst="rect">
            <a:avLst/>
          </a:prstGeom>
          <a:solidFill>
            <a:srgbClr val="00897B">
              <a:alpha val="85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842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VIEWMODEL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31920" y="198424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WeatherViewModel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LiveData  •  Coroutines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389120" y="27340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</a:rPr>
              <a:t>↕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98648"/>
            <a:ext cx="8229600" cy="804672"/>
          </a:xfrm>
          <a:prstGeom prst="rect">
            <a:avLst/>
          </a:prstGeom>
          <a:solidFill>
            <a:srgbClr val="7B1FA2">
              <a:alpha val="85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9535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REPOSITORY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31920" y="2953512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WeatherRepository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Result&lt;T&gt; обработка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389120" y="37033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</a:rPr>
              <a:t>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67912"/>
            <a:ext cx="8229600" cy="804672"/>
          </a:xfrm>
          <a:prstGeom prst="rect">
            <a:avLst/>
          </a:prstGeom>
          <a:solidFill>
            <a:srgbClr val="E65100">
              <a:alpha val="85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9227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DATA SOURCES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31920" y="3922776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RetrofitClient  |  SharedPreferences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WorkManager  |  FusedLocation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Основни функционалности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74320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149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 Текущо Време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490472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Температура, описание,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икона, усеща се като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60120"/>
            <a:ext cx="274320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0149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5-дневна Прогноза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10128" y="1490472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Разгъваеми карти с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детайли при клик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60120"/>
            <a:ext cx="2743200" cy="45720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0149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Почасова Прогноза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36208" y="1490472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Хоризонтален скрол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следващите 12 часа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26080"/>
            <a:ext cx="274320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9809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GPS Локация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048" y="3456432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FusedLocationProvider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Автоматично местоположение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0" y="292608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926080"/>
            <a:ext cx="2743200" cy="4572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9809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Нотификации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10128" y="3456432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WorkManager — всеки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 в 08:00 сутринта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292608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926080"/>
            <a:ext cx="2743200" cy="45720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9809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Обновяване &amp; Търсене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36208" y="3456432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Ръчно опресняване +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търсене по град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Използвани технологии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0116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069848"/>
            <a:ext cx="640080" cy="640080"/>
          </a:xfrm>
          <a:prstGeom prst="ellipse">
            <a:avLst/>
          </a:prstGeom>
          <a:solidFill>
            <a:srgbClr val="1565C0">
              <a:alpha val="8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7373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1.8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22219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Основен език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23160" y="960120"/>
            <a:ext cx="20116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08960" y="1069848"/>
            <a:ext cx="640080" cy="640080"/>
          </a:xfrm>
          <a:prstGeom prst="ellipse">
            <a:avLst/>
          </a:prstGeom>
          <a:solidFill>
            <a:srgbClr val="00897B">
              <a:alpha val="85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7373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68880" y="22219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заявки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17720" y="960120"/>
            <a:ext cx="20116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03520" y="1069848"/>
            <a:ext cx="640080" cy="640080"/>
          </a:xfrm>
          <a:prstGeom prst="ellipse">
            <a:avLst/>
          </a:prstGeom>
          <a:solidFill>
            <a:srgbClr val="7B1FA2">
              <a:alpha val="85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7373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Coroutines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22219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Асинхронност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12280" y="960120"/>
            <a:ext cx="20116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0" y="1069848"/>
            <a:ext cx="640080" cy="640080"/>
          </a:xfrm>
          <a:prstGeom prst="ellipse">
            <a:avLst/>
          </a:prstGeom>
          <a:solidFill>
            <a:srgbClr val="E65100">
              <a:alpha val="85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17373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LiveData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22219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MVVM архитектура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2880360"/>
            <a:ext cx="20116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2990088"/>
            <a:ext cx="640080" cy="640080"/>
          </a:xfrm>
          <a:prstGeom prst="ellipse">
            <a:avLst/>
          </a:prstGeom>
          <a:solidFill>
            <a:srgbClr val="0277BD">
              <a:alpha val="85000"/>
            </a:srgbClr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6576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Glide 4.16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414223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Зареждане иконки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423160" y="2880360"/>
            <a:ext cx="20116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08960" y="2990088"/>
            <a:ext cx="640080" cy="640080"/>
          </a:xfrm>
          <a:prstGeom prst="ellipse">
            <a:avLst/>
          </a:prstGeom>
          <a:solidFill>
            <a:srgbClr val="C62828">
              <a:alpha val="85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68880" y="36576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WorkManager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68880" y="414223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Нотификации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17720" y="2880360"/>
            <a:ext cx="20116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303520" y="2990088"/>
            <a:ext cx="640080" cy="640080"/>
          </a:xfrm>
          <a:prstGeom prst="ellipse">
            <a:avLst/>
          </a:prstGeom>
          <a:solidFill>
            <a:srgbClr val="2E7D32">
              <a:alpha val="85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36576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FusedLocation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63440" y="414223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координати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812280" y="2880360"/>
            <a:ext cx="20116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498080" y="2990088"/>
            <a:ext cx="640080" cy="640080"/>
          </a:xfrm>
          <a:prstGeom prst="ellipse">
            <a:avLst/>
          </a:prstGeom>
          <a:solidFill>
            <a:srgbClr val="6A1B9A">
              <a:alpha val="85000"/>
            </a:srgbClr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36576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SharedPrefs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0" y="414223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Локални данни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Потребителски интерфейс — Material Design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Динамични цветови схеми: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123444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71600"/>
            <a:ext cx="822960" cy="68580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066544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Слънчево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09928" y="1371600"/>
            <a:ext cx="1234440" cy="6858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21408" y="1371600"/>
            <a:ext cx="822960" cy="68580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09928" y="2066544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🌧️ Дъжд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99816" y="1371600"/>
            <a:ext cx="1234440" cy="685800"/>
          </a:xfrm>
          <a:prstGeom prst="rect">
            <a:avLst/>
          </a:prstGeom>
          <a:solidFill>
            <a:srgbClr val="81D4FA"/>
          </a:solidFill>
          <a:ln w="12700">
            <a:solidFill>
              <a:srgbClr val="81D4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11296" y="1371600"/>
            <a:ext cx="822960" cy="685800"/>
          </a:xfrm>
          <a:prstGeom prst="rect">
            <a:avLst/>
          </a:prstGeom>
          <a:solidFill>
            <a:srgbClr val="B3E5FC"/>
          </a:solidFill>
          <a:ln w="12700">
            <a:solidFill>
              <a:srgbClr val="B3E5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9816" y="2066544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❄️ Сняг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286000"/>
            <a:ext cx="1234440" cy="68580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2286000"/>
            <a:ext cx="822960" cy="68580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980944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⛈️ Буря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709928" y="2286000"/>
            <a:ext cx="1234440" cy="685800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21408" y="2286000"/>
            <a:ext cx="822960" cy="685800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09928" y="2980944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🌫️ Мъгла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099816" y="2286000"/>
            <a:ext cx="123444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11296" y="2286000"/>
            <a:ext cx="82296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99816" y="2980944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Нощ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344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принципи: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63440" y="137160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Material Design 3 компоненти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Шрифт Calibri, четлив контраст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CardView за прогнозните карти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 Голяма температура (72sp bold)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👆  Разгъваеми редове при клик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↔️  Хоризонтален скрол за часове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3749040"/>
            <a:ext cx="4114800" cy="1188720"/>
          </a:xfrm>
          <a:prstGeom prst="rect">
            <a:avLst/>
          </a:prstGeom>
          <a:solidFill>
            <a:srgbClr val="E8EAF6"/>
          </a:solidFill>
          <a:ln w="6350">
            <a:solidFill>
              <a:srgbClr val="C5CA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822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Елементи на интерфейса: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41605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Температура 72sp bold   📊 CardView прогноза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00600" y="44622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Бутон за обновяване     📍 GPS бутон за локация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Добри практики и обработка на грешки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ООП &amp; Архитектура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MVVM архитектура (разделение на слоеве)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Pattern (единична точка за данни)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Pattern (RetrofitClient)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Pattern (LiveData + ViewModel)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Pattern (RecyclerView + DiffUtil)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Инкапсулация и абстракция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20624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960120"/>
            <a:ext cx="4206240" cy="43891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9875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Обработка на грешки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5087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Няма интернет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18013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try/catch → Result.failure()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0" y="21671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Невалиден град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4597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HTTP 404 → съобщение на БГ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54880" y="28254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Невалиден API ключ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31181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HTTP 401 → информация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0" y="34838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GPS отказан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3776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Permission callback → Toast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54880" y="41422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Сървърна грешка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4434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HTTP 5xx → общо съобщение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1565C0">
              <a:alpha val="40000"/>
            </a:srgbClr>
          </a:solidFill>
          <a:ln w="12700">
            <a:solidFill>
              <a:srgbClr val="1565C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42A5F5">
              <a:alpha val="30000"/>
            </a:srgbClr>
          </a:solidFill>
          <a:ln w="12700">
            <a:solidFill>
              <a:srgbClr val="42A5F5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</a:rPr>
              <a:t>🎓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658368"/>
          </a:xfrm>
          <a:prstGeom prst="rect">
            <a:avLst/>
          </a:prstGeom>
          <a:solidFill>
            <a:srgbClr val="1565C0">
              <a:alpha val="40000"/>
            </a:srgbClr>
          </a:solidFill>
          <a:ln w="12700">
            <a:solidFill>
              <a:srgbClr val="42A5F5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7556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Покрити всички изисквания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03911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GPS, нотификации, MVVM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459736"/>
            <a:ext cx="8412480" cy="658368"/>
          </a:xfrm>
          <a:prstGeom prst="rect">
            <a:avLst/>
          </a:prstGeom>
          <a:solidFill>
            <a:srgbClr val="1565C0">
              <a:alpha val="40000"/>
            </a:srgbClr>
          </a:solidFill>
          <a:ln w="12700">
            <a:solidFill>
              <a:srgbClr val="42A5F5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5237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Модерен интерфейс на Български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8072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Design, динамични теми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227832"/>
            <a:ext cx="8412480" cy="658368"/>
          </a:xfrm>
          <a:prstGeom prst="rect">
            <a:avLst/>
          </a:prstGeom>
          <a:solidFill>
            <a:srgbClr val="1565C0">
              <a:alpha val="40000"/>
            </a:srgbClr>
          </a:solidFill>
          <a:ln w="12700">
            <a:solidFill>
              <a:srgbClr val="42A5F5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3291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Чиста архитектура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575304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MVVM, Repository, Singleton, Observer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995928"/>
            <a:ext cx="8412480" cy="658368"/>
          </a:xfrm>
          <a:prstGeom prst="rect">
            <a:avLst/>
          </a:prstGeom>
          <a:solidFill>
            <a:srgbClr val="1565C0">
              <a:alpha val="40000"/>
            </a:srgbClr>
          </a:solidFill>
          <a:ln w="12700">
            <a:solidFill>
              <a:srgbClr val="42A5F5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05840" y="40599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Надеждна обработка на грешки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434340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Всички edge cases са обхванати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Благодаря за вниманието!  🙏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Мобилно приложение за прогноза за времето</dc:title>
  <dc:subject>PptxGenJS Presentation</dc:subject>
  <dc:creator>PptxGenJS</dc:creator>
  <cp:lastModifiedBy>PptxGenJS</cp:lastModifiedBy>
  <cp:revision>10</cp:revision>
  <dcterms:created xsi:type="dcterms:W3CDTF">2026-04-28T20:43:57Z</dcterms:created>
  <dcterms:modified xsi:type="dcterms:W3CDTF">2026-05-02T16:57:54Z</dcterms:modified>
</cp:coreProperties>
</file>